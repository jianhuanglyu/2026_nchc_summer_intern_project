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60" r:id="rId4"/>
    <p:sldId id="284" r:id="rId5"/>
    <p:sldId id="262" r:id="rId6"/>
    <p:sldId id="271" r:id="rId7"/>
    <p:sldId id="265" r:id="rId8"/>
    <p:sldId id="295" r:id="rId9"/>
    <p:sldId id="294" r:id="rId10"/>
    <p:sldId id="296" r:id="rId11"/>
    <p:sldId id="29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F2D1F3"/>
    <a:srgbClr val="F6C9A8"/>
    <a:srgbClr val="EBF5EE"/>
    <a:srgbClr val="CCFFCC"/>
    <a:srgbClr val="FFFFCC"/>
    <a:srgbClr val="33CCCC"/>
    <a:srgbClr val="99CCFF"/>
    <a:srgbClr val="CCFF99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95701" autoAdjust="0"/>
  </p:normalViewPr>
  <p:slideViewPr>
    <p:cSldViewPr snapToGrid="0" snapToObjects="1">
      <p:cViewPr varScale="1">
        <p:scale>
          <a:sx n="89" d="100"/>
          <a:sy n="89" d="100"/>
        </p:scale>
        <p:origin x="22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559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D56AE-AD22-E6D3-A989-87D0B599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3A65F-F492-1DFA-8DE1-CCACF2575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36B89-7467-2936-B467-20A5D19E3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BFF59-E058-954A-CEC3-F608681FB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76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1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Refpath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資料集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共約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萬筆資料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該資料集所包含癌症來源主要圍繞在以下幾類：肺癌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(Lung Cancer)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、乳腺癌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(Breast Cancer)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、腎癌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(Renal Cell Carcinoma / RCC)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、淋巴結轉移癌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(Lymph Node Metastasis)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US" altLang="zh-TW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定位模組使用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yolo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作為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backbone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US" altLang="zh-TW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Skill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最佳化模組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主要使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Mistral Small 3.1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有最佳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Skill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去近似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Teacher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的結構化輸出</a:t>
            </a:r>
            <a:endParaRPr lang="en-US" altLang="zh-TW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85E2F-A62B-55B4-1A3E-F3E8E0FF8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C1624-7AAB-4E65-C591-CD14F6B5B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E580B-829A-1157-794C-FF7EF9462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B25FA-7EFC-351D-0EA7-63B9FF9BD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2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6BD2-AE45-6046-773B-09A2A9519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5977F-D404-D8A8-683C-3527F9CE1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B06EE3-07A2-0C57-A53E-6575D4002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Table 2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評估不同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Student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模型在訓練前後對於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Soft Score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進步程度</a:t>
            </a:r>
            <a:endParaRPr lang="en-US" altLang="zh-TW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Table 3 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評估不同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Student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模型和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Teacher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模型輸出在訓練前與訓練後之結構化欄位相似度</a:t>
            </a:r>
            <a:endParaRPr lang="en-US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組成部分 (Component)</a:t>
            </a:r>
          </a:p>
          <a:p>
            <a:r>
              <a:rPr lang="zh-TW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schema_validity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輸出是否符合 JSON 格式且通過 Schema 驗證 (成功=1.0, 失敗=0.0)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field_value_similarity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配置路徑中各個欄位值與標註的相似度（基於 Token F1）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status_accuracy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判斷狀態（如 "Positive", "Negative", "N/A"）的準確率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visible_evidence_consistency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提供的視覺證據（Supporting Visible Evidence）與標註的相似度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summary_consistency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Morphological_Summary 欄位與標註的 Token F1 相似度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prohibited_output_avoidance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</a:t>
            </a:r>
            <a:r>
              <a:rPr lang="zh-TW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是否避免了禁語（如診斷名稱、良惡性判定等）（成功=1.0, 失敗=0.0）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74063-DD3D-1DE5-D68F-4E8E827E4E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24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A33B4-EE52-8156-65F6-A09F41570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29341-AED7-53C7-66B4-233EF0BA5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4C5DA-11A0-F2E3-508B-3B8956A4A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5CB72-C8CE-2EDB-FFC7-4372B21DD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07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3FE77-D4A7-8D4E-1BEC-01EC3B771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D6646-4631-B09E-B874-1078F61AC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00ABF-D1BB-C205-3516-3A2F03B05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5BB99-7376-07BB-3301-4FAC7D4FC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9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01C52-AEA4-EEF5-AD0A-5348D360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31F8A-EE62-9713-8B69-8554EDFA9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E1A32-A214-9C3B-58F6-1C3791985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7225F-37D9-1209-2C51-A9D75804E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05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19372-A86D-C788-0214-31F657C3C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1E547-EA88-81A3-4240-9A87FE9D1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54ED0-87EF-DB45-20A8-098A3D819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DB45-B78C-BB67-EE47-7AEB00A23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1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1BliE2S8V1c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thome.com.tw/news/167926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huggingface.co/mistralai/Mistral-Small-3.1-24B-Instruct-2503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thelp.ithome.com.tw/articles/10366092" TargetMode="External"/><Relationship Id="rId11" Type="http://schemas.openxmlformats.org/officeDocument/2006/relationships/hyperlink" Target="https://man.twcc.ai/@AI-Pilot/manual#%E6%99%B6%E5%89%B5%E4%B8%BB%E6%A9%9FNano5---%E4%BD%BF%E7%94%A8%E8%AA%AA%E6%98%8E" TargetMode="External"/><Relationship Id="rId5" Type="http://schemas.openxmlformats.org/officeDocument/2006/relationships/hyperlink" Target="https://www.ipdeep.com/zh-Hant/resources/socks5-proxy-guide" TargetMode="External"/><Relationship Id="rId10" Type="http://schemas.openxmlformats.org/officeDocument/2006/relationships/hyperlink" Target="https://ai.google.dev/gemma/docs/core?hl=zh-tw" TargetMode="External"/><Relationship Id="rId4" Type="http://schemas.openxmlformats.org/officeDocument/2006/relationships/hyperlink" Target="https://blog.algomaster.io/p/client-server-architecture-explained" TargetMode="External"/><Relationship Id="rId9" Type="http://schemas.openxmlformats.org/officeDocument/2006/relationships/hyperlink" Target="https://vocus.cc/article/69690df3fd89780001e3e256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-1508760"/>
            <a:ext cx="5623560" cy="5623560"/>
          </a:xfrm>
          <a:prstGeom prst="ellipse">
            <a:avLst/>
          </a:prstGeom>
          <a:solidFill>
            <a:srgbClr val="F7F7F4">
              <a:alpha val="0"/>
            </a:srgbClr>
          </a:solidFill>
          <a:ln w="40640">
            <a:solidFill>
              <a:srgbClr val="241A17">
                <a:alpha val="97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8366760" y="-960120"/>
            <a:ext cx="4572000" cy="4572000"/>
          </a:xfrm>
          <a:prstGeom prst="ellipse">
            <a:avLst/>
          </a:prstGeom>
          <a:solidFill>
            <a:srgbClr val="F7F7F4">
              <a:alpha val="0"/>
            </a:srgbClr>
          </a:solidFill>
          <a:ln w="10160">
            <a:solidFill>
              <a:srgbClr val="9D979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1082528" y="457200"/>
            <a:ext cx="256032" cy="256032"/>
          </a:xfrm>
          <a:prstGeom prst="ellipse">
            <a:avLst/>
          </a:prstGeom>
          <a:solidFill>
            <a:srgbClr val="E73324"/>
          </a:solidFill>
          <a:ln w="127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0" y="6099048"/>
            <a:ext cx="12191695" cy="758952"/>
          </a:xfrm>
          <a:prstGeom prst="rect">
            <a:avLst/>
          </a:prstGeom>
          <a:solidFill>
            <a:srgbClr val="241A17"/>
          </a:solidFill>
          <a:ln w="12700">
            <a:solidFill>
              <a:srgbClr val="241A1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9921240" y="6099048"/>
            <a:ext cx="2270455" cy="758952"/>
          </a:xfrm>
          <a:prstGeom prst="rect">
            <a:avLst/>
          </a:prstGeom>
          <a:solidFill>
            <a:srgbClr val="E73324"/>
          </a:solidFill>
          <a:ln w="127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203121" y="1850538"/>
            <a:ext cx="7614999" cy="844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TW" sz="440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</a:t>
            </a:r>
            <a:r>
              <a:rPr lang="zh-TW" altLang="en-US" sz="440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暑期實習專案成果發表</a:t>
            </a:r>
            <a:endParaRPr lang="en-US" sz="4400" dirty="0"/>
          </a:p>
        </p:txBody>
      </p:sp>
      <p:sp>
        <p:nvSpPr>
          <p:cNvPr id="11" name="Shape 8"/>
          <p:cNvSpPr/>
          <p:nvPr/>
        </p:nvSpPr>
        <p:spPr>
          <a:xfrm>
            <a:off x="203122" y="2554644"/>
            <a:ext cx="6855343" cy="0"/>
          </a:xfrm>
          <a:prstGeom prst="line">
            <a:avLst/>
          </a:prstGeom>
          <a:noFill/>
          <a:ln w="508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203122" y="3516646"/>
            <a:ext cx="8604448" cy="63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zh-TW" altLang="en-US" sz="2000" b="1" dirty="0">
                <a:solidFill>
                  <a:srgbClr val="3D3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基於 </a:t>
            </a:r>
            <a:r>
              <a:rPr lang="en-US" altLang="zh-TW" sz="2000" b="1" dirty="0">
                <a:solidFill>
                  <a:srgbClr val="3D3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YOLO</a:t>
            </a:r>
            <a:r>
              <a:rPr lang="zh-TW" altLang="en-US" sz="2000" b="1" dirty="0">
                <a:solidFill>
                  <a:srgbClr val="3D3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病理影像異常區域偵測與教師引導學生技能最佳化之結構化分析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03118" y="4304534"/>
            <a:ext cx="6143167" cy="725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000" b="1" dirty="0">
                <a:solidFill>
                  <a:srgbClr val="6E6B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呂建篁</a:t>
            </a:r>
            <a:r>
              <a:rPr lang="en-US" altLang="zh-TW" sz="2000" b="1" dirty="0">
                <a:solidFill>
                  <a:srgbClr val="6E6B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｜ </a:t>
            </a:r>
            <a:r>
              <a:rPr lang="zh-TW" altLang="en-US" sz="2000" b="1" dirty="0">
                <a:solidFill>
                  <a:srgbClr val="6E6B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國網中心</a:t>
            </a:r>
            <a:r>
              <a:rPr lang="en-US" sz="2000" b="1" dirty="0">
                <a:solidFill>
                  <a:srgbClr val="6E6B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｜</a:t>
            </a:r>
            <a:r>
              <a:rPr lang="en-US" altLang="zh-TW" sz="2000" b="1" dirty="0">
                <a:solidFill>
                  <a:srgbClr val="6E6B6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2026/08/28</a:t>
            </a:r>
            <a:endParaRPr lang="en-US" sz="2000" b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8C0F882-3F06-C112-AF1C-C5AEBB2C4F44}"/>
              </a:ext>
            </a:extLst>
          </p:cNvPr>
          <p:cNvSpPr txBox="1"/>
          <p:nvPr/>
        </p:nvSpPr>
        <p:spPr>
          <a:xfrm>
            <a:off x="104484" y="2668716"/>
            <a:ext cx="7667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2000" b="1" dirty="0">
                <a:solidFill>
                  <a:srgbClr val="3D3A37"/>
                </a:solidFill>
                <a:latin typeface="Times New Roman" panose="02020603050405020304" pitchFamily="18" charset="0"/>
                <a:ea typeface="Noto Sans CJK TC" pitchFamily="34" charset="-122"/>
                <a:cs typeface="Times New Roman" panose="02020603050405020304" pitchFamily="18" charset="0"/>
              </a:rPr>
              <a:t>Structured Pathology Image Analysis via YOLO-Based Abnormality Detection and Teacher-Guided Student Skill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83BD7-3B07-8F43-D4C7-1546CDC64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nchc_logo_transparent.png">
            <a:extLst>
              <a:ext uri="{FF2B5EF4-FFF2-40B4-BE49-F238E27FC236}">
                <a16:creationId xmlns:a16="http://schemas.microsoft.com/office/drawing/2014/main" id="{49DF360D-2E88-2E97-DEA7-C30DEB386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404" y="54280"/>
            <a:ext cx="877824" cy="777240"/>
          </a:xfrm>
          <a:prstGeom prst="rect">
            <a:avLst/>
          </a:prstGeom>
        </p:spPr>
      </p:pic>
      <p:sp>
        <p:nvSpPr>
          <p:cNvPr id="6" name="Shape 9">
            <a:extLst>
              <a:ext uri="{FF2B5EF4-FFF2-40B4-BE49-F238E27FC236}">
                <a16:creationId xmlns:a16="http://schemas.microsoft.com/office/drawing/2014/main" id="{8CD1A2F9-E63A-645C-844F-9FB9F3028489}"/>
              </a:ext>
            </a:extLst>
          </p:cNvPr>
          <p:cNvSpPr/>
          <p:nvPr/>
        </p:nvSpPr>
        <p:spPr>
          <a:xfrm>
            <a:off x="530351" y="4283459"/>
            <a:ext cx="3401568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E1DFDA"/>
            </a:solidFill>
            <a:prstDash val="solid"/>
          </a:ln>
          <a:effectLst>
            <a:outerShdw blurRad="19050" dist="50800" dir="2700000" algn="bl" rotWithShape="0">
              <a:srgbClr val="BFBDB8">
                <a:alpha val="1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9EFF62C2-26C0-24A0-69D4-33F9F4F05AAE}"/>
              </a:ext>
            </a:extLst>
          </p:cNvPr>
          <p:cNvSpPr/>
          <p:nvPr/>
        </p:nvSpPr>
        <p:spPr>
          <a:xfrm>
            <a:off x="758951" y="4548635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3324"/>
                </a:solidFill>
                <a:latin typeface="+mj-lt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200" dirty="0">
              <a:latin typeface="+mj-lt"/>
            </a:endParaRPr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C46C0956-9F55-6987-315D-61ECF9F01C65}"/>
              </a:ext>
            </a:extLst>
          </p:cNvPr>
          <p:cNvSpPr/>
          <p:nvPr/>
        </p:nvSpPr>
        <p:spPr>
          <a:xfrm>
            <a:off x="727209" y="4979816"/>
            <a:ext cx="29684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醫學影像異常區域定位和分析是醫療上規劃、診斷及治療是重要的一環</a:t>
            </a:r>
            <a:endParaRPr 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42704476-643C-B400-9897-01D29344420A}"/>
              </a:ext>
            </a:extLst>
          </p:cNvPr>
          <p:cNvSpPr/>
          <p:nvPr/>
        </p:nvSpPr>
        <p:spPr>
          <a:xfrm>
            <a:off x="3749039" y="4283459"/>
            <a:ext cx="182880" cy="2121408"/>
          </a:xfrm>
          <a:prstGeom prst="rect">
            <a:avLst/>
          </a:prstGeom>
          <a:solidFill>
            <a:srgbClr val="DAD7D2"/>
          </a:solidFill>
          <a:ln w="12700">
            <a:solidFill>
              <a:srgbClr val="DAD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BBDFA387-6428-7439-F136-B32380BDE9B2}"/>
              </a:ext>
            </a:extLst>
          </p:cNvPr>
          <p:cNvSpPr/>
          <p:nvPr/>
        </p:nvSpPr>
        <p:spPr>
          <a:xfrm>
            <a:off x="4297679" y="4283459"/>
            <a:ext cx="3401568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E1DFDA"/>
            </a:solidFill>
            <a:prstDash val="solid"/>
          </a:ln>
          <a:effectLst>
            <a:outerShdw blurRad="19050" dist="50800" dir="2700000" algn="bl" rotWithShape="0">
              <a:srgbClr val="BFBDB8">
                <a:alpha val="1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4E15FE8D-8072-3A4E-1733-86FEE5076D54}"/>
              </a:ext>
            </a:extLst>
          </p:cNvPr>
          <p:cNvSpPr/>
          <p:nvPr/>
        </p:nvSpPr>
        <p:spPr>
          <a:xfrm>
            <a:off x="4526279" y="4548635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3324"/>
                </a:solidFill>
                <a:latin typeface="+mj-lt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200" dirty="0">
              <a:latin typeface="+mj-lt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D541727B-20E2-92E7-CCD8-D9BB21189ECB}"/>
              </a:ext>
            </a:extLst>
          </p:cNvPr>
          <p:cNvSpPr/>
          <p:nvPr/>
        </p:nvSpPr>
        <p:spPr>
          <a:xfrm>
            <a:off x="4514735" y="4984932"/>
            <a:ext cx="28949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傳統由醫師逐一閱片並標註異常區域及分析檢視，耗時且易出錯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  <a:cs typeface="Noto Sans CJK TC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6E6B67"/>
              </a:solidFill>
              <a:latin typeface="Noto Sans CJK TC" pitchFamily="34" charset="0"/>
              <a:ea typeface="Noto Sans CJK T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定位區域缺乏結構化資訊描述</a:t>
            </a:r>
            <a:endParaRPr lang="en-US" sz="1400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EB979AD5-A2A6-88D6-9691-EB9419FA3205}"/>
              </a:ext>
            </a:extLst>
          </p:cNvPr>
          <p:cNvSpPr/>
          <p:nvPr/>
        </p:nvSpPr>
        <p:spPr>
          <a:xfrm>
            <a:off x="7516367" y="4283459"/>
            <a:ext cx="182880" cy="2121408"/>
          </a:xfrm>
          <a:prstGeom prst="rect">
            <a:avLst/>
          </a:prstGeom>
          <a:solidFill>
            <a:srgbClr val="E73324"/>
          </a:solidFill>
          <a:ln w="127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B69A42B0-1E01-8871-AB19-118A93E9A182}"/>
              </a:ext>
            </a:extLst>
          </p:cNvPr>
          <p:cNvSpPr/>
          <p:nvPr/>
        </p:nvSpPr>
        <p:spPr>
          <a:xfrm>
            <a:off x="8065007" y="4283459"/>
            <a:ext cx="3401568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E1DFDA"/>
            </a:solidFill>
            <a:prstDash val="solid"/>
          </a:ln>
          <a:effectLst>
            <a:outerShdw blurRad="19050" dist="50800" dir="2700000" algn="bl" rotWithShape="0">
              <a:srgbClr val="BFBDB8">
                <a:alpha val="1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44E35FE0-FCE9-6D66-AADF-F707388EFD84}"/>
              </a:ext>
            </a:extLst>
          </p:cNvPr>
          <p:cNvSpPr/>
          <p:nvPr/>
        </p:nvSpPr>
        <p:spPr>
          <a:xfrm>
            <a:off x="8293607" y="4548635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3324"/>
                </a:solidFill>
                <a:latin typeface="+mj-lt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200" dirty="0">
              <a:latin typeface="+mj-lt"/>
            </a:endParaRPr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95574DD9-F082-2D43-DC04-8FCA3E9CF771}"/>
              </a:ext>
            </a:extLst>
          </p:cNvPr>
          <p:cNvSpPr/>
          <p:nvPr/>
        </p:nvSpPr>
        <p:spPr>
          <a:xfrm>
            <a:off x="8334755" y="4979816"/>
            <a:ext cx="2948940" cy="99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研製異常區域定位及結構化分析系統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  <a:cs typeface="Noto Sans CJK TC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  <a:cs typeface="Noto Sans CJK TC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減少醫師人工檢視及後續分析所需時間成本</a:t>
            </a:r>
            <a:endParaRPr 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79E03C7F-5C6B-A8F7-7B15-2C9F2956A6F9}"/>
              </a:ext>
            </a:extLst>
          </p:cNvPr>
          <p:cNvSpPr/>
          <p:nvPr/>
        </p:nvSpPr>
        <p:spPr>
          <a:xfrm>
            <a:off x="11283695" y="4283459"/>
            <a:ext cx="182880" cy="2121408"/>
          </a:xfrm>
          <a:prstGeom prst="rect">
            <a:avLst/>
          </a:prstGeom>
          <a:solidFill>
            <a:srgbClr val="DAD7D2"/>
          </a:solidFill>
          <a:ln w="12700">
            <a:solidFill>
              <a:srgbClr val="DAD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29272D21-94A0-F712-C050-4415CC6A6194}"/>
              </a:ext>
            </a:extLst>
          </p:cNvPr>
          <p:cNvSpPr/>
          <p:nvPr/>
        </p:nvSpPr>
        <p:spPr>
          <a:xfrm>
            <a:off x="1010411" y="4507523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80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應用</a:t>
            </a:r>
            <a:endParaRPr lang="en-US" sz="180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3D876D43-B67F-6C5C-536C-69A1B33B50A2}"/>
              </a:ext>
            </a:extLst>
          </p:cNvPr>
          <p:cNvSpPr/>
          <p:nvPr/>
        </p:nvSpPr>
        <p:spPr>
          <a:xfrm>
            <a:off x="4777739" y="45098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80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</a:t>
            </a:r>
            <a:endParaRPr lang="en-US" sz="18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B9A555FA-8621-E28E-5A0C-E057EB8B705D}"/>
              </a:ext>
            </a:extLst>
          </p:cNvPr>
          <p:cNvSpPr/>
          <p:nvPr/>
        </p:nvSpPr>
        <p:spPr>
          <a:xfrm>
            <a:off x="8545067" y="4515313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80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</a:t>
            </a:r>
            <a:endParaRPr lang="en-US" sz="1800" dirty="0"/>
          </a:p>
        </p:txBody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AED8A93A-8844-2ABC-FAAB-2A97BAFEBDD1}"/>
              </a:ext>
            </a:extLst>
          </p:cNvPr>
          <p:cNvSpPr/>
          <p:nvPr/>
        </p:nvSpPr>
        <p:spPr>
          <a:xfrm>
            <a:off x="445323" y="1091232"/>
            <a:ext cx="11093874" cy="2932515"/>
          </a:xfrm>
          <a:prstGeom prst="roundRect">
            <a:avLst>
              <a:gd name="adj" fmla="val 3448"/>
            </a:avLst>
          </a:prstGeom>
          <a:solidFill>
            <a:schemeClr val="bg1">
              <a:lumMod val="95000"/>
            </a:schemeClr>
          </a:solidFill>
          <a:ln w="10160">
            <a:solidFill>
              <a:srgbClr val="E1DFDA"/>
            </a:solidFill>
            <a:prstDash val="solid"/>
          </a:ln>
          <a:effectLst>
            <a:outerShdw blurRad="19050" dist="50800" dir="2700000" algn="bl" rotWithShape="0">
              <a:srgbClr val="BFBDB8">
                <a:alpha val="16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A9985C73-8EDC-D759-D97B-F0E580CFE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292" y="1803916"/>
            <a:ext cx="1625907" cy="1257812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E54530E6-0A5D-DF29-30DD-7FC680ECA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193" y="1790528"/>
            <a:ext cx="1257812" cy="12578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63B8695F-39B9-05F2-DDDB-B207EAFDF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5762" y="1478499"/>
            <a:ext cx="1257812" cy="1288000"/>
          </a:xfrm>
          <a:prstGeom prst="rect">
            <a:avLst/>
          </a:prstGeom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577EFC07-D0EE-0AAC-C1BA-7016356D1734}"/>
              </a:ext>
            </a:extLst>
          </p:cNvPr>
          <p:cNvSpPr txBox="1"/>
          <p:nvPr/>
        </p:nvSpPr>
        <p:spPr>
          <a:xfrm>
            <a:off x="4249552" y="2820708"/>
            <a:ext cx="1514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alveolar space with an isolated rounded cell cluster.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72CA6DC-04F9-782A-A82C-E82534BDE334}"/>
              </a:ext>
            </a:extLst>
          </p:cNvPr>
          <p:cNvSpPr/>
          <p:nvPr/>
        </p:nvSpPr>
        <p:spPr>
          <a:xfrm>
            <a:off x="4249552" y="1369813"/>
            <a:ext cx="1514718" cy="2352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箭號: 向右 63">
            <a:extLst>
              <a:ext uri="{FF2B5EF4-FFF2-40B4-BE49-F238E27FC236}">
                <a16:creationId xmlns:a16="http://schemas.microsoft.com/office/drawing/2014/main" id="{9B01237B-B617-4208-B8FA-0303A506FDD8}"/>
              </a:ext>
            </a:extLst>
          </p:cNvPr>
          <p:cNvSpPr/>
          <p:nvPr/>
        </p:nvSpPr>
        <p:spPr>
          <a:xfrm>
            <a:off x="1924983" y="2379811"/>
            <a:ext cx="303441" cy="2794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6" name="箭號: 向右 65">
            <a:extLst>
              <a:ext uri="{FF2B5EF4-FFF2-40B4-BE49-F238E27FC236}">
                <a16:creationId xmlns:a16="http://schemas.microsoft.com/office/drawing/2014/main" id="{651B5E35-8551-C5D5-CFD8-AAB7634E47BF}"/>
              </a:ext>
            </a:extLst>
          </p:cNvPr>
          <p:cNvSpPr/>
          <p:nvPr/>
        </p:nvSpPr>
        <p:spPr>
          <a:xfrm>
            <a:off x="3912243" y="2379811"/>
            <a:ext cx="303441" cy="2794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1902D247-3493-5AAE-1759-179A17FE97F7}"/>
              </a:ext>
            </a:extLst>
          </p:cNvPr>
          <p:cNvSpPr/>
          <p:nvPr/>
        </p:nvSpPr>
        <p:spPr>
          <a:xfrm>
            <a:off x="538483" y="1212263"/>
            <a:ext cx="5398347" cy="2690361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0E86F248-FCF1-FEAE-3991-5C83D6EAC96B}"/>
              </a:ext>
            </a:extLst>
          </p:cNvPr>
          <p:cNvSpPr txBox="1"/>
          <p:nvPr/>
        </p:nvSpPr>
        <p:spPr>
          <a:xfrm>
            <a:off x="2202607" y="3615280"/>
            <a:ext cx="16257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(a)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異常區域定位描述</a:t>
            </a:r>
          </a:p>
        </p:txBody>
      </p: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E66275F6-4453-31B0-685C-74BB85F6AD87}"/>
              </a:ext>
            </a:extLst>
          </p:cNvPr>
          <p:cNvSpPr/>
          <p:nvPr/>
        </p:nvSpPr>
        <p:spPr>
          <a:xfrm>
            <a:off x="6050472" y="1217978"/>
            <a:ext cx="5398347" cy="2690361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4" name="圖片 83">
            <a:extLst>
              <a:ext uri="{FF2B5EF4-FFF2-40B4-BE49-F238E27FC236}">
                <a16:creationId xmlns:a16="http://schemas.microsoft.com/office/drawing/2014/main" id="{4A51CF91-80B7-2D0C-2154-485B73587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494" y="1750905"/>
            <a:ext cx="1625907" cy="1257812"/>
          </a:xfrm>
          <a:prstGeom prst="rect">
            <a:avLst/>
          </a:prstGeom>
        </p:spPr>
      </p:pic>
      <p:pic>
        <p:nvPicPr>
          <p:cNvPr id="88" name="圖片 87">
            <a:extLst>
              <a:ext uri="{FF2B5EF4-FFF2-40B4-BE49-F238E27FC236}">
                <a16:creationId xmlns:a16="http://schemas.microsoft.com/office/drawing/2014/main" id="{83B41FF1-6154-7B07-E825-B0F2ABE1D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395" y="1737517"/>
            <a:ext cx="1257812" cy="12578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2" name="箭號: 向右 91">
            <a:extLst>
              <a:ext uri="{FF2B5EF4-FFF2-40B4-BE49-F238E27FC236}">
                <a16:creationId xmlns:a16="http://schemas.microsoft.com/office/drawing/2014/main" id="{A59A8689-3B7C-6892-9A33-234B5E53BA3B}"/>
              </a:ext>
            </a:extLst>
          </p:cNvPr>
          <p:cNvSpPr/>
          <p:nvPr/>
        </p:nvSpPr>
        <p:spPr>
          <a:xfrm>
            <a:off x="7462185" y="2326800"/>
            <a:ext cx="303441" cy="2794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97" name="箭號: 向右 96">
            <a:extLst>
              <a:ext uri="{FF2B5EF4-FFF2-40B4-BE49-F238E27FC236}">
                <a16:creationId xmlns:a16="http://schemas.microsoft.com/office/drawing/2014/main" id="{9B1E0C8A-289A-7D54-947C-A3BF5473F9EF}"/>
              </a:ext>
            </a:extLst>
          </p:cNvPr>
          <p:cNvSpPr/>
          <p:nvPr/>
        </p:nvSpPr>
        <p:spPr>
          <a:xfrm>
            <a:off x="9449445" y="2326800"/>
            <a:ext cx="303441" cy="2794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101" name="圖片 100">
            <a:extLst>
              <a:ext uri="{FF2B5EF4-FFF2-40B4-BE49-F238E27FC236}">
                <a16:creationId xmlns:a16="http://schemas.microsoft.com/office/drawing/2014/main" id="{623C1DC1-4BC1-A2A1-E0BE-4EC98D9A1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9122" y="1431700"/>
            <a:ext cx="964583" cy="987734"/>
          </a:xfrm>
          <a:prstGeom prst="rect">
            <a:avLst/>
          </a:prstGeom>
        </p:spPr>
      </p:pic>
      <p:pic>
        <p:nvPicPr>
          <p:cNvPr id="103" name="圖片 102">
            <a:extLst>
              <a:ext uri="{FF2B5EF4-FFF2-40B4-BE49-F238E27FC236}">
                <a16:creationId xmlns:a16="http://schemas.microsoft.com/office/drawing/2014/main" id="{C7610A21-D01E-8549-CA82-883DCE8B1C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24" b="97987" l="9620" r="89933">
                        <a14:foregroundMark x1="14541" y1="3579" x2="16779" y2="88143"/>
                        <a14:foregroundMark x1="16779" y1="88143" x2="46085" y2="96197"/>
                        <a14:foregroundMark x1="46085" y1="96197" x2="72707" y2="95302"/>
                        <a14:foregroundMark x1="72707" y1="95302" x2="84116" y2="83445"/>
                        <a14:foregroundMark x1="84116" y1="83445" x2="87248" y2="28188"/>
                        <a14:foregroundMark x1="87248" y1="28188" x2="77629" y2="14318"/>
                        <a14:foregroundMark x1="77629" y1="14318" x2="66219" y2="5145"/>
                        <a14:foregroundMark x1="66219" y1="5145" x2="16107" y2="671"/>
                        <a14:foregroundMark x1="16107" y1="671" x2="14541" y2="4474"/>
                        <a14:foregroundMark x1="16555" y1="93960" x2="45190" y2="12752"/>
                        <a14:foregroundMark x1="45190" y1="12752" x2="69575" y2="46756"/>
                        <a14:foregroundMark x1="69575" y1="46756" x2="61745" y2="78523"/>
                        <a14:foregroundMark x1="61745" y1="78523" x2="26398" y2="73154"/>
                        <a14:foregroundMark x1="26398" y1="73154" x2="24161" y2="70694"/>
                        <a14:foregroundMark x1="79195" y1="94183" x2="45190" y2="16555"/>
                        <a14:foregroundMark x1="45190" y1="16555" x2="28635" y2="10962"/>
                        <a14:foregroundMark x1="28635" y1="10962" x2="19239" y2="31767"/>
                        <a14:foregroundMark x1="19239" y1="31767" x2="21477" y2="70917"/>
                        <a14:foregroundMark x1="21477" y1="70917" x2="36242" y2="86577"/>
                        <a14:foregroundMark x1="36242" y1="86577" x2="77629" y2="94407"/>
                        <a14:foregroundMark x1="85459" y1="92617" x2="83669" y2="93736"/>
                        <a14:foregroundMark x1="12975" y1="91723" x2="74497" y2="97987"/>
                        <a14:foregroundMark x1="74497" y1="97987" x2="34676" y2="91051"/>
                        <a14:foregroundMark x1="34676" y1="91051" x2="13199" y2="92170"/>
                        <a14:foregroundMark x1="32662" y1="89485" x2="82327" y2="82774"/>
                        <a14:foregroundMark x1="82327" y1="82774" x2="83221" y2="37584"/>
                        <a14:foregroundMark x1="83221" y1="37584" x2="60179" y2="25951"/>
                        <a14:foregroundMark x1="60179" y1="25951" x2="26174" y2="41834"/>
                        <a14:foregroundMark x1="26174" y1="41834" x2="12752" y2="66667"/>
                        <a14:foregroundMark x1="12752" y1="66667" x2="25056" y2="87919"/>
                        <a14:foregroundMark x1="25056" y1="87919" x2="32438" y2="89038"/>
                        <a14:foregroundMark x1="29306" y1="91499" x2="69351" y2="80984"/>
                        <a14:foregroundMark x1="69351" y1="80984" x2="78747" y2="70917"/>
                        <a14:foregroundMark x1="78747" y1="70917" x2="82550" y2="46532"/>
                        <a14:foregroundMark x1="82550" y1="46532" x2="72931" y2="35794"/>
                        <a14:foregroundMark x1="72931" y1="35794" x2="37136" y2="38479"/>
                        <a14:foregroundMark x1="37136" y1="38479" x2="23714" y2="64653"/>
                        <a14:foregroundMark x1="23714" y1="64653" x2="27069" y2="84340"/>
                        <a14:foregroundMark x1="27069" y1="84340" x2="31767" y2="93065"/>
                        <a14:foregroundMark x1="69351" y1="89709" x2="46756" y2="75168"/>
                        <a14:foregroundMark x1="46756" y1="75168" x2="18345" y2="40492"/>
                        <a14:foregroundMark x1="18345" y1="40492" x2="47204" y2="35347"/>
                        <a14:foregroundMark x1="47204" y1="35347" x2="61745" y2="62192"/>
                        <a14:foregroundMark x1="61745" y1="62192" x2="57494" y2="81655"/>
                        <a14:foregroundMark x1="57494" y1="81655" x2="54586" y2="86577"/>
                        <a14:foregroundMark x1="65324" y1="76286" x2="38479" y2="69351"/>
                        <a14:foregroundMark x1="38479" y1="69351" x2="16555" y2="46085"/>
                        <a14:foregroundMark x1="16555" y1="46085" x2="35570" y2="36913"/>
                        <a14:foregroundMark x1="35570" y1="36913" x2="62864" y2="46980"/>
                        <a14:foregroundMark x1="62864" y1="46980" x2="76286" y2="76957"/>
                        <a14:foregroundMark x1="76286" y1="76957" x2="62864" y2="78076"/>
                        <a14:foregroundMark x1="69351" y1="47651" x2="66219" y2="67114"/>
                        <a14:foregroundMark x1="66219" y1="67114" x2="43400" y2="69799"/>
                        <a14:foregroundMark x1="43400" y1="69799" x2="30649" y2="48098"/>
                        <a14:foregroundMark x1="30649" y1="48098" x2="44519" y2="41834"/>
                        <a14:foregroundMark x1="44519" y1="41834" x2="68680" y2="60403"/>
                        <a14:foregroundMark x1="67338" y1="54139" x2="41611" y2="60179"/>
                        <a14:foregroundMark x1="41611" y1="60179" x2="63982" y2="56600"/>
                        <a14:foregroundMark x1="63982" y1="56600" x2="66219" y2="61074"/>
                        <a14:foregroundMark x1="52796" y1="72036" x2="40492" y2="65101"/>
                        <a14:foregroundMark x1="40492" y1="65101" x2="52573" y2="56823"/>
                        <a14:foregroundMark x1="52573" y1="56823" x2="47427" y2="70470"/>
                        <a14:foregroundMark x1="47427" y1="70470" x2="46309" y2="70694"/>
                        <a14:foregroundMark x1="80313" y1="32662" x2="52573" y2="16331"/>
                        <a14:foregroundMark x1="52573" y1="16331" x2="66443" y2="6040"/>
                        <a14:foregroundMark x1="66443" y1="6040" x2="83893" y2="29083"/>
                        <a14:foregroundMark x1="83893" y1="29083" x2="78971" y2="34899"/>
                        <a14:foregroundMark x1="74049" y1="32662" x2="59284" y2="9620"/>
                        <a14:foregroundMark x1="59284" y1="9620" x2="74497" y2="10738"/>
                        <a14:foregroundMark x1="74497" y1="10738" x2="78747" y2="25280"/>
                        <a14:foregroundMark x1="78747" y1="25280" x2="73378" y2="335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60" y="2752631"/>
            <a:ext cx="908905" cy="908905"/>
          </a:xfrm>
          <a:prstGeom prst="rect">
            <a:avLst/>
          </a:prstGeom>
        </p:spPr>
      </p:pic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3974822A-0C0C-0D86-5BEE-2F131C75242A}"/>
              </a:ext>
            </a:extLst>
          </p:cNvPr>
          <p:cNvSpPr txBox="1"/>
          <p:nvPr/>
        </p:nvSpPr>
        <p:spPr>
          <a:xfrm>
            <a:off x="9699753" y="2483303"/>
            <a:ext cx="1603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Information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1E93F267-EAEA-2914-AFDB-179E776AEA28}"/>
              </a:ext>
            </a:extLst>
          </p:cNvPr>
          <p:cNvSpPr/>
          <p:nvPr/>
        </p:nvSpPr>
        <p:spPr>
          <a:xfrm>
            <a:off x="9744054" y="1341322"/>
            <a:ext cx="1514718" cy="2381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BA2F5F2C-4665-04CB-88B5-F5A2E2484EA9}"/>
              </a:ext>
            </a:extLst>
          </p:cNvPr>
          <p:cNvSpPr txBox="1"/>
          <p:nvPr/>
        </p:nvSpPr>
        <p:spPr>
          <a:xfrm>
            <a:off x="7461573" y="3584294"/>
            <a:ext cx="2249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(b)</a:t>
            </a:r>
            <a:r>
              <a:rPr lang="zh-TW" altLang="en-US" sz="1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異常區域定位及結構化資訊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D3D2F88-BAF7-586B-E358-0262A1CAC8E6}"/>
              </a:ext>
            </a:extLst>
          </p:cNvPr>
          <p:cNvSpPr/>
          <p:nvPr/>
        </p:nvSpPr>
        <p:spPr>
          <a:xfrm>
            <a:off x="541050" y="797847"/>
            <a:ext cx="707443" cy="0"/>
          </a:xfrm>
          <a:prstGeom prst="line">
            <a:avLst/>
          </a:prstGeom>
          <a:noFill/>
          <a:ln w="381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EDEDE17-FE2C-CB7A-3148-BAF29BF5226B}"/>
              </a:ext>
            </a:extLst>
          </p:cNvPr>
          <p:cNvSpPr/>
          <p:nvPr/>
        </p:nvSpPr>
        <p:spPr>
          <a:xfrm>
            <a:off x="566928" y="416513"/>
            <a:ext cx="1101005" cy="3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TW" altLang="en-US" sz="255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</a:rPr>
              <a:t>簡介</a:t>
            </a:r>
            <a:endParaRPr lang="en-US" sz="2550" dirty="0"/>
          </a:p>
        </p:txBody>
      </p:sp>
    </p:spTree>
    <p:extLst>
      <p:ext uri="{BB962C8B-B14F-4D97-AF65-F5344CB8AC3E}">
        <p14:creationId xmlns:p14="http://schemas.microsoft.com/office/powerpoint/2010/main" val="140314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7F001D10-391E-38FA-495B-73A269C7BC11}"/>
              </a:ext>
            </a:extLst>
          </p:cNvPr>
          <p:cNvSpPr txBox="1"/>
          <p:nvPr/>
        </p:nvSpPr>
        <p:spPr>
          <a:xfrm>
            <a:off x="330176" y="3177956"/>
            <a:ext cx="38813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Localization Module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YOLO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系列模型，用於異常區域定位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Skill / Prompt Optimization Module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使用醫療特化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MedGemma1.5 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作為 Teacher ，產生結構化輸出作為參考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Mistral Small 3.1</a:t>
            </a:r>
            <a:r>
              <a:rPr lang="zh-TW" altLang="zh-TW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Student Model 與 Teacher 輸出相似度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不微調模型參數，將Skill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Prompt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視為可訓練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外部參數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進行最佳化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Teacher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Student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輸出近似</a:t>
            </a:r>
            <a:endParaRPr lang="zh-TW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46667DB-9D77-3145-B26B-EA5FC921CBE5}"/>
              </a:ext>
            </a:extLst>
          </p:cNvPr>
          <p:cNvSpPr txBox="1"/>
          <p:nvPr/>
        </p:nvSpPr>
        <p:spPr>
          <a:xfrm>
            <a:off x="330175" y="939496"/>
            <a:ext cx="3790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Multimodal Dataset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Refpath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病理醫學影像是由肺癌、乳腺癌、腎癌及淋巴結轉移癌所構成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資料集由多模態資料組成，包含圖片路徑、異常區域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bbox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座標及對應異常區域描述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訓練集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106076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驗證集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13556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測試集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13464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Image 0" descr="/mnt/data/nchc_logo_transparent.png">
            <a:extLst>
              <a:ext uri="{FF2B5EF4-FFF2-40B4-BE49-F238E27FC236}">
                <a16:creationId xmlns:a16="http://schemas.microsoft.com/office/drawing/2014/main" id="{7A57CDFA-7F55-A56F-4126-ED61D392E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404" y="54280"/>
            <a:ext cx="877824" cy="77724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D67952F-A830-DC6A-C373-308E33FA1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279" y="1044186"/>
            <a:ext cx="7861949" cy="4783959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1332EE70-F6F7-DAD7-EE36-2D5E9137DD72}"/>
              </a:ext>
            </a:extLst>
          </p:cNvPr>
          <p:cNvSpPr txBox="1"/>
          <p:nvPr/>
        </p:nvSpPr>
        <p:spPr>
          <a:xfrm>
            <a:off x="7285034" y="5828145"/>
            <a:ext cx="24778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 Overview</a:t>
            </a:r>
            <a:endParaRPr lang="zh-TW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EC31F4A-C92E-E882-24F4-7FD09DDD9155}"/>
              </a:ext>
            </a:extLst>
          </p:cNvPr>
          <p:cNvSpPr/>
          <p:nvPr/>
        </p:nvSpPr>
        <p:spPr>
          <a:xfrm>
            <a:off x="566928" y="416513"/>
            <a:ext cx="1101005" cy="3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TW" altLang="en-US" sz="255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</a:rPr>
              <a:t>方法</a:t>
            </a:r>
            <a:endParaRPr lang="en-US" sz="255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627E2A0-4A3F-0CC9-E04C-CB6DAE831F89}"/>
              </a:ext>
            </a:extLst>
          </p:cNvPr>
          <p:cNvSpPr/>
          <p:nvPr/>
        </p:nvSpPr>
        <p:spPr>
          <a:xfrm>
            <a:off x="541050" y="797847"/>
            <a:ext cx="707443" cy="0"/>
          </a:xfrm>
          <a:prstGeom prst="line">
            <a:avLst/>
          </a:prstGeom>
          <a:noFill/>
          <a:ln w="381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49707-0804-A049-26B1-75C19D975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/mnt/data/nchc_logo_transparent.png">
            <a:extLst>
              <a:ext uri="{FF2B5EF4-FFF2-40B4-BE49-F238E27FC236}">
                <a16:creationId xmlns:a16="http://schemas.microsoft.com/office/drawing/2014/main" id="{2604BA6F-74E2-AA01-930C-E3A5FCEC8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404" y="54280"/>
            <a:ext cx="877824" cy="777240"/>
          </a:xfrm>
          <a:prstGeom prst="rect">
            <a:avLst/>
          </a:prstGeom>
        </p:spPr>
      </p:pic>
      <p:sp>
        <p:nvSpPr>
          <p:cNvPr id="66" name="Shape 7">
            <a:extLst>
              <a:ext uri="{FF2B5EF4-FFF2-40B4-BE49-F238E27FC236}">
                <a16:creationId xmlns:a16="http://schemas.microsoft.com/office/drawing/2014/main" id="{737388C2-2BED-4FB5-4FDD-25928C129D69}"/>
              </a:ext>
            </a:extLst>
          </p:cNvPr>
          <p:cNvSpPr/>
          <p:nvPr/>
        </p:nvSpPr>
        <p:spPr>
          <a:xfrm>
            <a:off x="187366" y="1163254"/>
            <a:ext cx="11803351" cy="4531492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FDCD7"/>
            </a:solidFill>
            <a:prstDash val="solid"/>
          </a:ln>
          <a:effectLst>
            <a:outerShdw blurRad="19050" dist="50800" dir="2700000" algn="bl" rotWithShape="0">
              <a:srgbClr val="BFBDB8">
                <a:alpha val="1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6DC673E-810C-C479-A196-B9584A14E387}"/>
              </a:ext>
            </a:extLst>
          </p:cNvPr>
          <p:cNvSpPr txBox="1"/>
          <p:nvPr/>
        </p:nvSpPr>
        <p:spPr>
          <a:xfrm>
            <a:off x="1201379" y="5769119"/>
            <a:ext cx="98440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不同模型在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RefPath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資料集上異常區域定位的視覺化結果。訓練集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106,076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驗證集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13,556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測試集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13,464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根據結果顯示，大部分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YOLO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模型都能良好地偵測並定位出異常區域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0F5DA56-C97D-0DF1-E306-8DCBAEEB9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69" y="1419147"/>
            <a:ext cx="11549261" cy="405665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77E2359-4760-AD24-0097-7A4E504C46F9}"/>
              </a:ext>
            </a:extLst>
          </p:cNvPr>
          <p:cNvSpPr/>
          <p:nvPr/>
        </p:nvSpPr>
        <p:spPr>
          <a:xfrm>
            <a:off x="566928" y="416513"/>
            <a:ext cx="1101005" cy="3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TW" altLang="en-US" sz="255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</a:rPr>
              <a:t>實驗</a:t>
            </a:r>
            <a:endParaRPr lang="en-US" sz="255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6D528E5-8A41-440A-7B72-B5CA6787D4CA}"/>
              </a:ext>
            </a:extLst>
          </p:cNvPr>
          <p:cNvSpPr/>
          <p:nvPr/>
        </p:nvSpPr>
        <p:spPr>
          <a:xfrm>
            <a:off x="541050" y="797847"/>
            <a:ext cx="707443" cy="0"/>
          </a:xfrm>
          <a:prstGeom prst="line">
            <a:avLst/>
          </a:prstGeom>
          <a:noFill/>
          <a:ln w="381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110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9"/>
          <p:cNvSpPr/>
          <p:nvPr/>
        </p:nvSpPr>
        <p:spPr>
          <a:xfrm>
            <a:off x="822960" y="2688336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900" dirty="0"/>
          </a:p>
        </p:txBody>
      </p:sp>
      <p:pic>
        <p:nvPicPr>
          <p:cNvPr id="7" name="Image 0" descr="/mnt/data/nchc_logo_transparent.png">
            <a:extLst>
              <a:ext uri="{FF2B5EF4-FFF2-40B4-BE49-F238E27FC236}">
                <a16:creationId xmlns:a16="http://schemas.microsoft.com/office/drawing/2014/main" id="{1DB5AC68-CB74-290E-B962-438D08633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404" y="54280"/>
            <a:ext cx="877824" cy="777240"/>
          </a:xfrm>
          <a:prstGeom prst="rect">
            <a:avLst/>
          </a:prstGeom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B6F97A47-7940-A1D5-C723-AB5CBACA6895}"/>
              </a:ext>
            </a:extLst>
          </p:cNvPr>
          <p:cNvSpPr txBox="1"/>
          <p:nvPr/>
        </p:nvSpPr>
        <p:spPr>
          <a:xfrm>
            <a:off x="1493241" y="5003133"/>
            <a:ext cx="97791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定位模組的實驗模型選擇均來自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Ultralytics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團隊設計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Yolo backbone (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相同實作和參數設定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Yolov8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系列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Baseline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進行效能量測，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YOLO 11m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取得大部分評比指標最佳效能，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YOLO 11s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取得次要競爭力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個模型均在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Refpath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病理圖文對資料集進行實驗。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訓練集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106,076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驗證集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13,556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測試集</a:t>
            </a:r>
            <a:r>
              <a:rPr lang="zh-TW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13,464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6" name="Shape 7">
            <a:extLst>
              <a:ext uri="{FF2B5EF4-FFF2-40B4-BE49-F238E27FC236}">
                <a16:creationId xmlns:a16="http://schemas.microsoft.com/office/drawing/2014/main" id="{45D374B2-D8CB-A420-7669-F8FDE3308658}"/>
              </a:ext>
            </a:extLst>
          </p:cNvPr>
          <p:cNvSpPr/>
          <p:nvPr/>
        </p:nvSpPr>
        <p:spPr>
          <a:xfrm>
            <a:off x="1493240" y="748780"/>
            <a:ext cx="9779164" cy="412889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FDCD7"/>
            </a:solidFill>
            <a:prstDash val="solid"/>
          </a:ln>
          <a:effectLst>
            <a:outerShdw blurRad="19050" dist="50800" dir="2700000" algn="bl" rotWithShape="0">
              <a:srgbClr val="BFBDB8">
                <a:alpha val="1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68" name="圖片 67">
            <a:extLst>
              <a:ext uri="{FF2B5EF4-FFF2-40B4-BE49-F238E27FC236}">
                <a16:creationId xmlns:a16="http://schemas.microsoft.com/office/drawing/2014/main" id="{BE11E8AE-D349-1C7A-8568-DFA282D3D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441" y="840756"/>
            <a:ext cx="9186762" cy="3994323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54560A5A-910B-AAA9-D0EA-73F1D42BF5D4}"/>
              </a:ext>
            </a:extLst>
          </p:cNvPr>
          <p:cNvSpPr/>
          <p:nvPr/>
        </p:nvSpPr>
        <p:spPr>
          <a:xfrm>
            <a:off x="566928" y="416513"/>
            <a:ext cx="1101005" cy="3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TW" altLang="en-US" sz="255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</a:rPr>
              <a:t>實驗</a:t>
            </a:r>
            <a:endParaRPr lang="en-US" sz="25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C5E9CCE-D11B-3283-B05B-31BF56DA2F17}"/>
              </a:ext>
            </a:extLst>
          </p:cNvPr>
          <p:cNvSpPr/>
          <p:nvPr/>
        </p:nvSpPr>
        <p:spPr>
          <a:xfrm>
            <a:off x="541050" y="797847"/>
            <a:ext cx="707443" cy="0"/>
          </a:xfrm>
          <a:prstGeom prst="line">
            <a:avLst/>
          </a:prstGeom>
          <a:noFill/>
          <a:ln w="381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56366-B854-8626-7778-FD52522FA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7">
            <a:extLst>
              <a:ext uri="{FF2B5EF4-FFF2-40B4-BE49-F238E27FC236}">
                <a16:creationId xmlns:a16="http://schemas.microsoft.com/office/drawing/2014/main" id="{B4CEB716-CD3A-AEAE-07CA-1E40BD90DCC3}"/>
              </a:ext>
            </a:extLst>
          </p:cNvPr>
          <p:cNvSpPr/>
          <p:nvPr/>
        </p:nvSpPr>
        <p:spPr>
          <a:xfrm>
            <a:off x="161499" y="983492"/>
            <a:ext cx="11869002" cy="3720394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FDCD7"/>
            </a:solidFill>
            <a:prstDash val="solid"/>
          </a:ln>
          <a:effectLst>
            <a:outerShdw blurRad="19050" dist="50800" dir="2700000" algn="bl" rotWithShape="0">
              <a:srgbClr val="BFBDB8">
                <a:alpha val="1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17AA0BD-380E-AC85-7B7B-29A46E671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20" y="1128271"/>
            <a:ext cx="5449795" cy="167946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990EE16-9131-D8C5-02A6-65473650F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416" y="1128271"/>
            <a:ext cx="6119636" cy="175233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212692C-354D-1F39-2778-3694F2BD6941}"/>
              </a:ext>
            </a:extLst>
          </p:cNvPr>
          <p:cNvSpPr txBox="1"/>
          <p:nvPr/>
        </p:nvSpPr>
        <p:spPr>
          <a:xfrm>
            <a:off x="161499" y="4808676"/>
            <a:ext cx="1117257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Soft Score組成</a:t>
            </a:r>
            <a:r>
              <a:rPr lang="en-US" altLang="zh-TW" sz="1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欄位有效性 + 欄位值相似度 +  狀態準確率 + 視覺證據一致性 + 摘要相似度 + 禁止輸出項目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</a:t>
            </a:r>
            <a:r>
              <a:rPr lang="en-US" altLang="zh-TW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Teacher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輸出欄位內容評估相似程度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</a:t>
            </a:r>
            <a:r>
              <a:rPr lang="en-US" altLang="zh-TW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判讀兩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輸出格式是否符合指定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JSON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格式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可看出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Mistral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Prompt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有顯著改善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</a:t>
            </a:r>
            <a:r>
              <a:rPr lang="en-US" altLang="zh-TW" sz="1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 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代表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SkillOpt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最佳化後的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skill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prompt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的可讓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Mistral Small 3.1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大幅減少違規案例</a:t>
            </a:r>
            <a:endParaRPr lang="zh-TW" altLang="en-US" sz="1400" dirty="0"/>
          </a:p>
        </p:txBody>
      </p:sp>
      <p:pic>
        <p:nvPicPr>
          <p:cNvPr id="5" name="Image 0" descr="/mnt/data/nchc_logo_transparent.png">
            <a:extLst>
              <a:ext uri="{FF2B5EF4-FFF2-40B4-BE49-F238E27FC236}">
                <a16:creationId xmlns:a16="http://schemas.microsoft.com/office/drawing/2014/main" id="{CA10B9A3-82EE-C0C3-E010-1B4694177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404" y="54280"/>
            <a:ext cx="877824" cy="77724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5277BE3E-A6CE-1D4E-B786-9BFB2A7E4DB5}"/>
              </a:ext>
            </a:extLst>
          </p:cNvPr>
          <p:cNvSpPr/>
          <p:nvPr/>
        </p:nvSpPr>
        <p:spPr>
          <a:xfrm>
            <a:off x="566928" y="416513"/>
            <a:ext cx="1101005" cy="3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TW" altLang="en-US" sz="255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</a:rPr>
              <a:t>實驗</a:t>
            </a:r>
            <a:endParaRPr lang="en-US" sz="255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68BCA02-6C3C-6087-6E65-826BBB93034F}"/>
              </a:ext>
            </a:extLst>
          </p:cNvPr>
          <p:cNvSpPr/>
          <p:nvPr/>
        </p:nvSpPr>
        <p:spPr>
          <a:xfrm>
            <a:off x="541050" y="797847"/>
            <a:ext cx="707443" cy="0"/>
          </a:xfrm>
          <a:prstGeom prst="line">
            <a:avLst/>
          </a:prstGeom>
          <a:noFill/>
          <a:ln w="381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693437B-4B5A-B44F-9862-B34ADA9FE0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421" y="3032580"/>
            <a:ext cx="5694971" cy="156094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7621A87-CC5F-49C8-887D-EC44B747F3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9610" y="3011775"/>
            <a:ext cx="5719055" cy="156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4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/mnt/data/nchc_logo_transparent.png">
            <a:extLst>
              <a:ext uri="{FF2B5EF4-FFF2-40B4-BE49-F238E27FC236}">
                <a16:creationId xmlns:a16="http://schemas.microsoft.com/office/drawing/2014/main" id="{465D5DEC-3A77-516C-9A17-059CE5D28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404" y="54280"/>
            <a:ext cx="877824" cy="77724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17C6AE6-366D-8382-C05B-667B7C6D2E23}"/>
              </a:ext>
            </a:extLst>
          </p:cNvPr>
          <p:cNvSpPr txBox="1"/>
          <p:nvPr/>
        </p:nvSpPr>
        <p:spPr>
          <a:xfrm>
            <a:off x="695313" y="1659285"/>
            <a:ext cx="1080137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建立異常區域定位與結構化分析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框架，使後續流程效率得以改善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在不微調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模型下，只對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Skill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Prompt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Optimization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Student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輸出近似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Teacher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 algn="just"/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Mistral Small 3.1 經 Skill 與 Prompt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最佳化後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，在 Soft Score 與 Schema Validity 明顯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r>
              <a:rPr lang="zh-TW" altLang="zh-TW" sz="1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</a:t>
            </a:r>
            <a:r>
              <a:rPr lang="en-US" altLang="zh-TW" sz="1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Teacher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Student VLM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可能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有幻覺及所使用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Skill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皆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需專業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人員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lvl="0" indent="-571500" algn="just">
              <a:buFont typeface="Wingdings" panose="05000000000000000000" pitchFamily="2" charset="2"/>
              <a:buChar char="Ø"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未來工作</a:t>
            </a:r>
            <a:r>
              <a:rPr lang="en-US" altLang="zh-TW" sz="1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導入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RAG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減輕幻覺並進行專家驗證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Skill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VLM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輸出正確性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F61C387-D37E-A781-5DE3-0856370B06E9}"/>
              </a:ext>
            </a:extLst>
          </p:cNvPr>
          <p:cNvSpPr/>
          <p:nvPr/>
        </p:nvSpPr>
        <p:spPr>
          <a:xfrm>
            <a:off x="566928" y="416513"/>
            <a:ext cx="5242745" cy="3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TW" altLang="en-US" sz="255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</a:rPr>
              <a:t>限制與結論</a:t>
            </a:r>
            <a:endParaRPr lang="en-US" sz="255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4A9DA52A-6B8A-95EA-4C7D-B61C57131491}"/>
              </a:ext>
            </a:extLst>
          </p:cNvPr>
          <p:cNvSpPr/>
          <p:nvPr/>
        </p:nvSpPr>
        <p:spPr>
          <a:xfrm>
            <a:off x="541050" y="797847"/>
            <a:ext cx="1703386" cy="0"/>
          </a:xfrm>
          <a:prstGeom prst="line">
            <a:avLst/>
          </a:prstGeom>
          <a:noFill/>
          <a:ln w="381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EAB1C4-5A9F-F399-903A-F90DDAC42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36577D5-0BE2-2ED5-D589-93D7BC64C81E}"/>
              </a:ext>
            </a:extLst>
          </p:cNvPr>
          <p:cNvSpPr/>
          <p:nvPr/>
        </p:nvSpPr>
        <p:spPr>
          <a:xfrm>
            <a:off x="188237" y="61441"/>
            <a:ext cx="1677508" cy="3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TW" altLang="en-US" sz="255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</a:rPr>
              <a:t>成果影片</a:t>
            </a:r>
            <a:endParaRPr lang="en-US" sz="25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9F4D572-BDDF-839E-0899-789487A1361A}"/>
              </a:ext>
            </a:extLst>
          </p:cNvPr>
          <p:cNvSpPr/>
          <p:nvPr/>
        </p:nvSpPr>
        <p:spPr>
          <a:xfrm>
            <a:off x="162358" y="442775"/>
            <a:ext cx="1324695" cy="0"/>
          </a:xfrm>
          <a:prstGeom prst="line">
            <a:avLst/>
          </a:prstGeom>
          <a:noFill/>
          <a:ln w="381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047EBD0-328C-B258-2BF8-C5D810030F02}"/>
              </a:ext>
            </a:extLst>
          </p:cNvPr>
          <p:cNvSpPr txBox="1"/>
          <p:nvPr/>
        </p:nvSpPr>
        <p:spPr>
          <a:xfrm>
            <a:off x="3885347" y="3075057"/>
            <a:ext cx="4421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Demo: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https://youtu.be/1BliE2S8V1c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657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6A252-9117-8394-258E-CFCB9E947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1C855A7-2C9B-E504-FC10-4CA48B21A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836579"/>
              </p:ext>
            </p:extLst>
          </p:nvPr>
        </p:nvGraphicFramePr>
        <p:xfrm>
          <a:off x="102769" y="947450"/>
          <a:ext cx="11986462" cy="5687025"/>
        </p:xfrm>
        <a:graphic>
          <a:graphicData uri="http://schemas.openxmlformats.org/drawingml/2006/table">
            <a:tbl>
              <a:tblPr/>
              <a:tblGrid>
                <a:gridCol w="1514241">
                  <a:extLst>
                    <a:ext uri="{9D8B030D-6E8A-4147-A177-3AD203B41FA5}">
                      <a16:colId xmlns:a16="http://schemas.microsoft.com/office/drawing/2014/main" val="2305458248"/>
                    </a:ext>
                  </a:extLst>
                </a:gridCol>
                <a:gridCol w="2276795">
                  <a:extLst>
                    <a:ext uri="{9D8B030D-6E8A-4147-A177-3AD203B41FA5}">
                      <a16:colId xmlns:a16="http://schemas.microsoft.com/office/drawing/2014/main" val="1834131285"/>
                    </a:ext>
                  </a:extLst>
                </a:gridCol>
                <a:gridCol w="2867484">
                  <a:extLst>
                    <a:ext uri="{9D8B030D-6E8A-4147-A177-3AD203B41FA5}">
                      <a16:colId xmlns:a16="http://schemas.microsoft.com/office/drawing/2014/main" val="785847470"/>
                    </a:ext>
                  </a:extLst>
                </a:gridCol>
                <a:gridCol w="5327942">
                  <a:extLst>
                    <a:ext uri="{9D8B030D-6E8A-4147-A177-3AD203B41FA5}">
                      <a16:colId xmlns:a16="http://schemas.microsoft.com/office/drawing/2014/main" val="3691965391"/>
                    </a:ext>
                  </a:extLst>
                </a:gridCol>
              </a:tblGrid>
              <a:tr h="1279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分類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項目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技術</a:t>
                      </a:r>
                      <a:endParaRPr lang="zh-TW" sz="16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說明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663036"/>
                  </a:ext>
                </a:extLst>
              </a:tr>
              <a:tr h="415937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前端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框架與函式庫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Gradio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建立操作介面，提供影像上傳、模型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推論</a:t>
                      </a: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、分析結果與互動操作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571077"/>
                  </a:ext>
                </a:extLst>
              </a:tr>
              <a:tr h="223966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TW" sz="12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樣式工具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CSS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負責介面排版、樣式與整體視覺設計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398705"/>
                  </a:ext>
                </a:extLst>
              </a:tr>
              <a:tr h="319951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後端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程式語言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負責系統主要邏輯、資料處理、模型流程控制與服務整合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503175"/>
                  </a:ext>
                </a:extLst>
              </a:tr>
              <a:tr h="31995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TW" sz="12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AI / ML Framework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PyTorch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提供深度學習模型執行、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YOLO訓練與推論及VLM推論能力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037756"/>
                  </a:ext>
                </a:extLst>
              </a:tr>
              <a:tr h="31995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TW" sz="12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zh-TW" altLang="en-US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Inference Service</a:t>
                      </a:r>
                      <a:endParaRPr lang="zh-TW" sz="15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vLLM</a:t>
                      </a:r>
                      <a:r>
                        <a:rPr lang="zh-TW" altLang="en-US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altLang="zh-TW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OpenAI-compatible APIs</a:t>
                      </a:r>
                      <a:endParaRPr lang="zh-TW" sz="15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zh-TW" sz="160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提供大型VLM 高效GPU推論</a:t>
                      </a:r>
                      <a:r>
                        <a:rPr lang="zh-TW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服務，支援批次推論與 OpenAI-compatible API</a:t>
                      </a:r>
                      <a:endParaRPr lang="zh-TW" sz="1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714140"/>
                  </a:ext>
                </a:extLst>
              </a:tr>
              <a:tr h="439144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TW" sz="12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Web API</a:t>
                      </a:r>
                      <a:endParaRPr lang="zh-TW" sz="15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zh-TW" alt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Uvicorn</a:t>
                      </a:r>
                      <a:endParaRPr lang="zh-TW" sz="15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使用FastAPI 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  <a:r>
                        <a:rPr lang="en-US" alt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RESTful API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，用於處理模型資訊、影像分析、病例與報告管理</a:t>
                      </a:r>
                      <a:endParaRPr lang="zh-TW" sz="1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803105"/>
                  </a:ext>
                </a:extLst>
              </a:tr>
              <a:tr h="2786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AI Models</a:t>
                      </a:r>
                      <a:endParaRPr lang="en-US" altLang="zh-TW" sz="15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YOLO</a:t>
                      </a: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11m</a:t>
                      </a:r>
                      <a:r>
                        <a:rPr lang="zh-TW" altLang="en-US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YOLO11s</a:t>
                      </a:r>
                      <a:r>
                        <a:rPr lang="zh-TW" altLang="en-US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Gemma4</a:t>
                      </a:r>
                      <a:r>
                        <a:rPr lang="zh-TW" altLang="en-US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Mistral Small 3.1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YOLO負責異常區域定位</a:t>
                      </a:r>
                      <a:r>
                        <a:rPr lang="en-US" alt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VLM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用於</a:t>
                      </a: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ROI 影像分析與結構化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生成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345044"/>
                  </a:ext>
                </a:extLst>
              </a:tr>
              <a:tr h="3199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Prompt</a:t>
                      </a:r>
                      <a:r>
                        <a:rPr lang="zh-TW" altLang="en-US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工程</a:t>
                      </a:r>
                      <a:endParaRPr lang="zh-TW" sz="16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Skill / Prompt</a:t>
                      </a:r>
                      <a:r>
                        <a:rPr lang="zh-TW" altLang="en-US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Optimization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Microsoft </a:t>
                      </a: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SkillOpt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透過 Teacher–Student 評估與迭代方式最佳化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Skill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及 </a:t>
                      </a:r>
                      <a:r>
                        <a:rPr lang="en-US" alt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Prompt</a:t>
                      </a: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，使 Student Model 結構化輸出逐步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近似 </a:t>
                      </a:r>
                      <a:r>
                        <a:rPr lang="en-US" alt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Teacher Model</a:t>
                      </a:r>
                      <a:endParaRPr lang="zh-TW" sz="1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582673"/>
                  </a:ext>
                </a:extLst>
              </a:tr>
              <a:tr h="415937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基礎架構與部署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運算</a:t>
                      </a:r>
                      <a:r>
                        <a:rPr lang="zh-TW" altLang="en-US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與儲存</a:t>
                      </a:r>
                      <a:endParaRPr lang="zh-TW" sz="15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NCHC NANO4</a:t>
                      </a: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NVIDIA H200</a:t>
                      </a: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TW" altLang="en-US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HFS</a:t>
                      </a:r>
                      <a:endParaRPr lang="zh-TW" sz="15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提供模型訓練、推論及 Skill Optimization 所需 HPC 與 GPU 運算能力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，以及透過</a:t>
                      </a:r>
                      <a:r>
                        <a:rPr lang="en-US" alt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HFS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進行資料處理及管理</a:t>
                      </a:r>
                      <a:endParaRPr lang="zh-TW" sz="1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205416"/>
                  </a:ext>
                </a:extLst>
              </a:tr>
              <a:tr h="415937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TW" sz="12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資源調度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Slurm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負責HPC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之 </a:t>
                      </a: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GPU、CPU、記憶體及執行時間等資源配置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078423"/>
                  </a:ext>
                </a:extLst>
              </a:tr>
              <a:tr h="31995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TW" sz="12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遠端連線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Open</a:t>
                      </a: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SSH</a:t>
                      </a:r>
                      <a:r>
                        <a:rPr lang="zh-TW" altLang="en-US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SOCKS5h</a:t>
                      </a:r>
                      <a:endParaRPr lang="zh-TW" sz="15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登入 HPC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並透過 Port Forwarding 存取遠端系統服務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73289"/>
                  </a:ext>
                </a:extLst>
              </a:tr>
              <a:tr h="31995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TW" sz="12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執行環境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zh-TW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venv</a:t>
                      </a:r>
                      <a:endParaRPr lang="zh-TW" sz="15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提供系統執行與 Python 套件隔離環境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460406"/>
                  </a:ext>
                </a:extLst>
              </a:tr>
              <a:tr h="415937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zh-TW" sz="12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部署架構</a:t>
                      </a:r>
                      <a:endParaRPr lang="zh-TW" sz="15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altLang="zh-TW" sz="15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Client-Server</a:t>
                      </a:r>
                      <a:endParaRPr lang="zh-TW" sz="15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透過</a:t>
                      </a:r>
                      <a:r>
                        <a:rPr lang="en-US" alt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Client-Server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架構</a:t>
                      </a:r>
                      <a:r>
                        <a:rPr lang="en-US" alt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使客戶端達成輕量級部署</a:t>
                      </a:r>
                      <a:r>
                        <a:rPr lang="en-US" altLang="zh-TW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zh-TW" altLang="en-US" sz="15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伺服器端負責儲存模型推論記錄及提供高速運算資源進行推論服務</a:t>
                      </a:r>
                      <a:endParaRPr lang="zh-TW" sz="15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515087"/>
                  </a:ext>
                </a:extLst>
              </a:tr>
            </a:tbl>
          </a:graphicData>
        </a:graphic>
      </p:graphicFrame>
      <p:pic>
        <p:nvPicPr>
          <p:cNvPr id="9" name="Image 0" descr="/mnt/data/nchc_logo_transparent.png">
            <a:extLst>
              <a:ext uri="{FF2B5EF4-FFF2-40B4-BE49-F238E27FC236}">
                <a16:creationId xmlns:a16="http://schemas.microsoft.com/office/drawing/2014/main" id="{75AA2289-E52C-BB53-627B-C584D4282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404" y="54280"/>
            <a:ext cx="877824" cy="7772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2A5FEE8-B3D9-1144-2A7D-499E4D8DEF7D}"/>
              </a:ext>
            </a:extLst>
          </p:cNvPr>
          <p:cNvSpPr/>
          <p:nvPr/>
        </p:nvSpPr>
        <p:spPr>
          <a:xfrm>
            <a:off x="566929" y="416513"/>
            <a:ext cx="1040198" cy="3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TW" altLang="en-US" sz="255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</a:rPr>
              <a:t>技術棧</a:t>
            </a:r>
            <a:endParaRPr lang="en-US" sz="255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70A5F51-6AE2-27DE-00D8-27412A235281}"/>
              </a:ext>
            </a:extLst>
          </p:cNvPr>
          <p:cNvSpPr/>
          <p:nvPr/>
        </p:nvSpPr>
        <p:spPr>
          <a:xfrm>
            <a:off x="541050" y="797847"/>
            <a:ext cx="1066077" cy="0"/>
          </a:xfrm>
          <a:prstGeom prst="line">
            <a:avLst/>
          </a:prstGeom>
          <a:noFill/>
          <a:ln w="381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346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01E87-F9E5-5EC4-2737-1AB7A8A4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nchc_logo_transparent.png">
            <a:extLst>
              <a:ext uri="{FF2B5EF4-FFF2-40B4-BE49-F238E27FC236}">
                <a16:creationId xmlns:a16="http://schemas.microsoft.com/office/drawing/2014/main" id="{AB86D55A-25C4-B762-091B-62FE5D9CD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404" y="54280"/>
            <a:ext cx="877824" cy="77724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193B4A86-9D61-F41F-5975-B62E9789DF6E}"/>
              </a:ext>
            </a:extLst>
          </p:cNvPr>
          <p:cNvSpPr txBox="1"/>
          <p:nvPr/>
        </p:nvSpPr>
        <p:spPr>
          <a:xfrm>
            <a:off x="541050" y="1189491"/>
            <a:ext cx="1111524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 Y. Yang </a:t>
            </a:r>
            <a:r>
              <a:rPr lang="zh-TW" altLang="zh-TW" sz="125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et al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., “SkillOpt: Executive Strategy for Self-Evolving Agent Skills.”</a:t>
            </a:r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[2] A. Sellergren </a:t>
            </a:r>
            <a:r>
              <a:rPr lang="zh-TW" altLang="zh-TW" sz="125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et al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., “MedGemma 1.5 Technical Report.”</a:t>
            </a:r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[3]</a:t>
            </a:r>
            <a:r>
              <a:rPr lang="zh-TW" altLang="en-US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Y. Liang et al., “WSI-LLaVA: A Multimodal Large Language Model for Whole Slide Image.”</a:t>
            </a:r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Algomaster, “Client-Server Architecture Explained.”[Online]. Available: 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4"/>
              </a:rPr>
              <a:t>https://blog.algomaster.io/p/client-server-architecture-explained</a:t>
            </a:r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IPDEEP, “代理IP新手指南：什麼是SOCKS5代理？”[Online]. Available: 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5"/>
              </a:rPr>
              <a:t>https://www.ipdeep.com/zh-Hant/resources/socks5-proxy-guide</a:t>
            </a:r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iThome, “[Day25] Python專案－網頁開發－(4) Fast API 進階後端工程師該思考的幾件事.” [Online]. Available: 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6"/>
              </a:rPr>
              <a:t>https://ithelp.ithome.com.tw/articles/10366092</a:t>
            </a:r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Mistral AI, “Model Card for Mistral-Small-3.1-24B-Instruct-2503,”Hugging Face. [Online]. Available: 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7"/>
              </a:rPr>
              <a:t>https://huggingface.co/mistralai/Mistral-Small-3.1-24B-Instruct-2503</a:t>
            </a:r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iThome, “Mistral Small 3.1 視覺與語文理解能力領先 Google 新推的 Gemma 3.”[Online]. Available: 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8"/>
              </a:rPr>
              <a:t>https://www.ithome.com.tw/news/167926</a:t>
            </a:r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Vocus, “Google MedGemma 1.5：看懂 CT、聽懂醫囑的專業醫療 AI 模型.”[Online]. Available: 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9"/>
              </a:rPr>
              <a:t>https://vocus.cc/article/69690df3fd89780001e3e256</a:t>
            </a:r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Google, “Gemma 4 模型總覽,” Google AI for Developers. [Online]. Available: 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10"/>
              </a:rPr>
              <a:t>https://ai.google.dev/gemma/docs/core?hl=zh-tw</a:t>
            </a:r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[11]</a:t>
            </a:r>
            <a:r>
              <a:rPr lang="zh-TW" altLang="en-US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NCHC,</a:t>
            </a:r>
            <a:r>
              <a:rPr lang="zh-TW" altLang="en-US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“</a:t>
            </a:r>
            <a:r>
              <a:rPr lang="zh-TW" altLang="en-US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晶創主機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(Nano5) - </a:t>
            </a:r>
            <a:r>
              <a:rPr lang="zh-TW" altLang="en-US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使用說明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”</a:t>
            </a:r>
            <a:r>
              <a:rPr lang="zh-TW" altLang="en-US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</a:t>
            </a:r>
            <a:r>
              <a:rPr lang="zh-TW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[Online]. Available:</a:t>
            </a:r>
            <a:r>
              <a:rPr lang="zh-TW" altLang="en-US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5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11"/>
              </a:rPr>
              <a:t>https://man.twcc.ai/@AI-Pilot/manual#%E6%99%B6%E5%89%B5%E4%B8%BB%E6%A9%9FNano5---%E4%BD%BF%E7%94%A8%E8%AA%AA%E6%98%8E</a:t>
            </a:r>
            <a:endParaRPr lang="en-US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zh-TW" sz="125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E930C48-0BA5-AE9F-5E49-7D6718F802F7}"/>
              </a:ext>
            </a:extLst>
          </p:cNvPr>
          <p:cNvSpPr/>
          <p:nvPr/>
        </p:nvSpPr>
        <p:spPr>
          <a:xfrm>
            <a:off x="566929" y="416513"/>
            <a:ext cx="1040198" cy="37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TW" altLang="en-US" sz="2550" b="1" dirty="0">
                <a:solidFill>
                  <a:srgbClr val="241A17"/>
                </a:solidFill>
                <a:latin typeface="Noto Sans CJK TC" pitchFamily="34" charset="0"/>
                <a:ea typeface="Noto Sans CJK TC" pitchFamily="34" charset="-122"/>
              </a:rPr>
              <a:t>參考</a:t>
            </a:r>
            <a:endParaRPr lang="en-US" sz="255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68CD4577-2F32-37CB-76ED-1D05048B8E5A}"/>
              </a:ext>
            </a:extLst>
          </p:cNvPr>
          <p:cNvSpPr/>
          <p:nvPr/>
        </p:nvSpPr>
        <p:spPr>
          <a:xfrm>
            <a:off x="541050" y="797847"/>
            <a:ext cx="696623" cy="0"/>
          </a:xfrm>
          <a:prstGeom prst="line">
            <a:avLst/>
          </a:prstGeom>
          <a:noFill/>
          <a:ln w="381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528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CC1F8-CD9B-1133-16AC-5B277804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C1DF0F-B7E9-B58A-E48B-843054E58C45}"/>
              </a:ext>
            </a:extLst>
          </p:cNvPr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E73324"/>
          </a:solidFill>
          <a:ln w="12700">
            <a:solidFill>
              <a:srgbClr val="E733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9DA8AA-14F6-BFF6-F5C8-73A934576E74}"/>
              </a:ext>
            </a:extLst>
          </p:cNvPr>
          <p:cNvSpPr/>
          <p:nvPr/>
        </p:nvSpPr>
        <p:spPr>
          <a:xfrm>
            <a:off x="7452360" y="658368"/>
            <a:ext cx="3840480" cy="3840480"/>
          </a:xfrm>
          <a:prstGeom prst="ellipse">
            <a:avLst/>
          </a:prstGeom>
          <a:solidFill>
            <a:srgbClr val="E73324">
              <a:alpha val="0"/>
            </a:srgbClr>
          </a:solidFill>
          <a:ln w="1651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B0F1C44-EB41-FB42-E9CB-9E0BBCB74F58}"/>
              </a:ext>
            </a:extLst>
          </p:cNvPr>
          <p:cNvSpPr/>
          <p:nvPr/>
        </p:nvSpPr>
        <p:spPr>
          <a:xfrm>
            <a:off x="10497312" y="5486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B2EB045-148C-6D1B-84F4-5285B91082A1}"/>
              </a:ext>
            </a:extLst>
          </p:cNvPr>
          <p:cNvSpPr/>
          <p:nvPr/>
        </p:nvSpPr>
        <p:spPr>
          <a:xfrm>
            <a:off x="8823960" y="551383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4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B8CECF-7010-B2E1-5DFB-C4EE44479AB5}"/>
              </a:ext>
            </a:extLst>
          </p:cNvPr>
          <p:cNvSpPr txBox="1"/>
          <p:nvPr/>
        </p:nvSpPr>
        <p:spPr>
          <a:xfrm>
            <a:off x="1222105" y="2828835"/>
            <a:ext cx="59012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b="1" dirty="0"/>
              <a:t>THANK</a:t>
            </a:r>
            <a:r>
              <a:rPr lang="zh-TW" altLang="en-US" sz="7200" b="1" dirty="0"/>
              <a:t> </a:t>
            </a:r>
            <a:r>
              <a:rPr lang="en-US" altLang="zh-TW" sz="7200" b="1" dirty="0"/>
              <a:t>YOU</a:t>
            </a:r>
            <a:r>
              <a:rPr lang="zh-TW" altLang="en-US" sz="7200" b="1" dirty="0"/>
              <a:t> </a:t>
            </a:r>
            <a:r>
              <a:rPr lang="en-US" altLang="zh-TW" sz="7200" b="1" dirty="0"/>
              <a:t>!!!</a:t>
            </a:r>
            <a:endParaRPr lang="zh-TW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4016494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6682</TotalTime>
  <Words>1935</Words>
  <Application>Microsoft Office PowerPoint</Application>
  <PresentationFormat>寬螢幕</PresentationFormat>
  <Paragraphs>183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Noto Sans CJK TC</vt:lpstr>
      <vt:lpstr>標楷體</vt:lpstr>
      <vt:lpstr>Arial</vt:lpstr>
      <vt:lpstr>Calibri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NCHC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NCHC 簡報模板</dc:title>
  <dc:subject>NCHC branded presentation template</dc:subject>
  <dc:creator>OpenAI</dc:creator>
  <cp:lastModifiedBy>建篁 呂</cp:lastModifiedBy>
  <cp:revision>349</cp:revision>
  <dcterms:created xsi:type="dcterms:W3CDTF">2026-07-30T01:32:27Z</dcterms:created>
  <dcterms:modified xsi:type="dcterms:W3CDTF">2026-08-30T13:38:57Z</dcterms:modified>
</cp:coreProperties>
</file>